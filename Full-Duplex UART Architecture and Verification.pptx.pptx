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Lato" charset="1" panose="020F0502020204030203"/>
      <p:regular r:id="rId20"/>
    </p:embeddedFont>
    <p:embeddedFont>
      <p:font typeface="Poppins" charset="1" panose="00000500000000000000"/>
      <p:regular r:id="rId21"/>
    </p:embeddedFont>
    <p:embeddedFont>
      <p:font typeface="Lato Bold" charset="1" panose="020F0502020204030203"/>
      <p:regular r:id="rId22"/>
    </p:embeddedFont>
    <p:embeddedFont>
      <p:font typeface="Lato Italics" charset="1" panose="020F050202020403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50769" y="3291926"/>
            <a:ext cx="5986462" cy="428625"/>
            <a:chOff x="0" y="0"/>
            <a:chExt cx="7981950" cy="571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981950" cy="571500"/>
            </a:xfrm>
            <a:custGeom>
              <a:avLst/>
              <a:gdLst/>
              <a:ahLst/>
              <a:cxnLst/>
              <a:rect r="r" b="b" t="t" l="l"/>
              <a:pathLst>
                <a:path h="571500" w="7981950">
                  <a:moveTo>
                    <a:pt x="0" y="0"/>
                  </a:moveTo>
                  <a:lnTo>
                    <a:pt x="7981950" y="0"/>
                  </a:lnTo>
                  <a:lnTo>
                    <a:pt x="79819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44" r="0" b="-154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93156" y="3977726"/>
            <a:ext cx="13501688" cy="180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5"/>
              </a:lnSpc>
            </a:pPr>
            <a:r>
              <a:rPr lang="en-US" sz="6075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Full-Duplex UART Protocol</a:t>
            </a:r>
          </a:p>
          <a:p>
            <a:pPr algn="ctr">
              <a:lnSpc>
                <a:spcPts val="6985"/>
              </a:lnSpc>
            </a:pPr>
            <a:r>
              <a:rPr lang="en-US" sz="6075" b="true">
                <a:solidFill>
                  <a:srgbClr val="38BDF8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Microarchitecture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4625" y="5971137"/>
            <a:ext cx="12858750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137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Complete RTL design with 4 TX Submodules, 6 RX Submodules, isolated Datapath/Control-Path separation, and strict black-box verification in ModelSim.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2471738"/>
            <a:ext cx="8093869" cy="6472238"/>
            <a:chOff x="0" y="0"/>
            <a:chExt cx="10791825" cy="86296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91825" cy="8629650"/>
            </a:xfrm>
            <a:custGeom>
              <a:avLst/>
              <a:gdLst/>
              <a:ahLst/>
              <a:cxnLst/>
              <a:rect r="r" b="b" t="t" l="l"/>
              <a:pathLst>
                <a:path h="862965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8629650"/>
                  </a:lnTo>
                  <a:lnTo>
                    <a:pt x="0" y="862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" t="0" r="-13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22594" y="2471738"/>
            <a:ext cx="8093869" cy="6472238"/>
            <a:chOff x="0" y="0"/>
            <a:chExt cx="10791825" cy="86296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91825" cy="8629650"/>
            </a:xfrm>
            <a:custGeom>
              <a:avLst/>
              <a:gdLst/>
              <a:ahLst/>
              <a:cxnLst/>
              <a:rect r="r" b="b" t="t" l="l"/>
              <a:pathLst>
                <a:path h="862965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8629650"/>
                  </a:lnTo>
                  <a:lnTo>
                    <a:pt x="0" y="862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" t="0" r="-13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14450" y="2886075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Transmitter Subsystem (4 Modules)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3419475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1. p_calc (Parity Calculator):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Pure combinational XOR tree calculating even/odd parity.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4248150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2. serializer (PISO Shift Reg):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Synchronous register loading 8-bit parallel byte and shifting LSB-first.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5076825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3. fsm_tx (TX Controller):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State sequencer coordinating cycles and asserting o_tx_busy.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5919787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4. mux (Output Selector):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4-to-1 dynamic multiplexer driving start bit, payload, parity, or stop bit onto o_tx.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5506" y="2886075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Receiver Subsystem (6 Modules)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5506" y="3419475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1. neg_edgedetector: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Captures line drop from HIGH to LOW with handshake lock.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5506" y="4248150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2. start_checker: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Filters false glitches and validates steady 0 during start bit.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5506" y="5076825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3. deserializer (SIPO):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Gathers serial bits sequentially into an 8-bit output word.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5506" y="5905500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4. p_checker: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Recomputes parity and flags active-high o_parity_err on mismatch.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5506" y="6748463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5. stop_checker: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Confirms line returns to 1, raising o_framing_err if low.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5506" y="7591425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6. fsm_rx: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Master supervisor sequencing reception and driving o_rx_valid.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 Hierarchy: 4 TX &amp; 6 RX Modules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23310" y="4543425"/>
            <a:ext cx="1104138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Transmitter (TX)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0775" y="5762625"/>
            <a:ext cx="58864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In-Depth Breakdown of the 4 Transmit Pipeline Submodules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8288" y="3207544"/>
            <a:ext cx="7188175" cy="5000625"/>
            <a:chOff x="0" y="0"/>
            <a:chExt cx="9584233" cy="666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584182" cy="6667500"/>
            </a:xfrm>
            <a:custGeom>
              <a:avLst/>
              <a:gdLst/>
              <a:ahLst/>
              <a:cxnLst/>
              <a:rect r="r" b="b" t="t" l="l"/>
              <a:pathLst>
                <a:path h="6667500" w="9584182">
                  <a:moveTo>
                    <a:pt x="0" y="0"/>
                  </a:moveTo>
                  <a:lnTo>
                    <a:pt x="9584182" y="0"/>
                  </a:lnTo>
                  <a:lnTo>
                    <a:pt x="9584182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" r="0" b="-5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3012" y="3605213"/>
            <a:ext cx="841377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p_calc (Parity Calculator):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pure combinational block executing a parallel XOR tree across the 8-bit input bus (i_data[7:0]). Dynamically calculates odd/even parity via the formula Parity = ^i_data ^ i_par_odd without adding register latency.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3012" y="5205413"/>
            <a:ext cx="8413775" cy="145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serializer (PISO Register):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Synchronous sequential register operating on the rising edge of i_clk with asynchronous active-low reset. When signaled by FSM, it latches the entire 8-bit parallel word and delivers it bit-by-bit (LSB first) across 8 consecutive clock pulses.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012" y="6791325"/>
            <a:ext cx="84137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Clock-Domain Determinism: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Zero race hazards achieved by keeping arithmetic XOR trees in combinational logic and shift registers strictly synchronous.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42575" y="3221831"/>
            <a:ext cx="7159600" cy="4972050"/>
            <a:chOff x="0" y="0"/>
            <a:chExt cx="9546133" cy="66294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546082" cy="6629400"/>
            </a:xfrm>
            <a:custGeom>
              <a:avLst/>
              <a:gdLst/>
              <a:ahLst/>
              <a:cxnLst/>
              <a:rect r="r" b="b" t="t" l="l"/>
              <a:pathLst>
                <a:path h="6629400" w="9546082">
                  <a:moveTo>
                    <a:pt x="0" y="0"/>
                  </a:moveTo>
                  <a:lnTo>
                    <a:pt x="9546082" y="0"/>
                  </a:lnTo>
                  <a:lnTo>
                    <a:pt x="9546082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1" r="0" b="-14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TX Datapath: Parity &amp; Serializer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314700"/>
            <a:ext cx="8093869" cy="4786312"/>
            <a:chOff x="0" y="0"/>
            <a:chExt cx="10791825" cy="6381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91825" cy="6381750"/>
            </a:xfrm>
            <a:custGeom>
              <a:avLst/>
              <a:gdLst/>
              <a:ahLst/>
              <a:cxnLst/>
              <a:rect r="r" b="b" t="t" l="l"/>
              <a:pathLst>
                <a:path h="638175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6381750"/>
                  </a:lnTo>
                  <a:lnTo>
                    <a:pt x="0" y="638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" t="0" r="-13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22594" y="3314700"/>
            <a:ext cx="8093869" cy="4786312"/>
            <a:chOff x="0" y="0"/>
            <a:chExt cx="10791825" cy="6381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91825" cy="6381750"/>
            </a:xfrm>
            <a:custGeom>
              <a:avLst/>
              <a:gdLst/>
              <a:ahLst/>
              <a:cxnLst/>
              <a:rect r="r" b="b" t="t" l="l"/>
              <a:pathLst>
                <a:path h="638175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6381750"/>
                  </a:lnTo>
                  <a:lnTo>
                    <a:pt x="0" y="638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" t="0" r="-13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14450" y="3729037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fsm_tx (TX State Machine)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4262437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Master TX Sequence: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Coordinates transitions across IDLE → START → DATA (8 cycles) → PARITY → STOP states.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5091113"/>
            <a:ext cx="7208044" cy="110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Buffer Overwrite Protection: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Asserts active-high o_tx_busy immediately upon transfer initiation, preventing upstream processors from corrupting internal registers.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6276975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Mux Select Control: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Generates cycle-accurate 2-bit select lines steering the serializer, start bit, parity bit, and stop bit.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5506" y="3729037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mux (4-to-1 TX Selector)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5506" y="4262437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Hardware Serialization Bridge: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Directs the proper bit source to the physical serial line o_tx.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5506" y="5105400"/>
            <a:ext cx="720804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Input Multiplexing Map: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5506" y="5591175"/>
            <a:ext cx="7208044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2'b00 → Start Bit: Constant logic 0.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5506" y="6091237"/>
            <a:ext cx="7208044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2'b01 → Serial Data: Output from serializer.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5506" y="6591300"/>
            <a:ext cx="7208044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2'b10 → Parity Bit: Output from p_calc.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5506" y="7091363"/>
            <a:ext cx="7208044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2'b11 → Stop Bit: Constant logic 1 (IDLE level).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TX Control: FSM &amp; Multiplexer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00877" y="4543425"/>
            <a:ext cx="988623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(RX)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3550" y="5762625"/>
            <a:ext cx="72009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In-Depth Breakdown of the 6 Reception, Filtering, and Check Submodules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564731"/>
            <a:ext cx="8093869" cy="4286250"/>
            <a:chOff x="0" y="0"/>
            <a:chExt cx="10791825" cy="5715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91825" cy="5715000"/>
            </a:xfrm>
            <a:custGeom>
              <a:avLst/>
              <a:gdLst/>
              <a:ahLst/>
              <a:cxnLst/>
              <a:rect r="r" b="b" t="t" l="l"/>
              <a:pathLst>
                <a:path h="571500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" r="0" b="-3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22594" y="3564731"/>
            <a:ext cx="8093869" cy="4286250"/>
            <a:chOff x="0" y="0"/>
            <a:chExt cx="10791825" cy="5715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91825" cy="5715000"/>
            </a:xfrm>
            <a:custGeom>
              <a:avLst/>
              <a:gdLst/>
              <a:ahLst/>
              <a:cxnLst/>
              <a:rect r="r" b="b" t="t" l="l"/>
              <a:pathLst>
                <a:path h="5715000" w="10791825">
                  <a:moveTo>
                    <a:pt x="0" y="0"/>
                  </a:moveTo>
                  <a:lnTo>
                    <a:pt x="10791825" y="0"/>
                  </a:lnTo>
                  <a:lnTo>
                    <a:pt x="10791825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14450" y="3979069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neg_edgedetector (Falling-Edge Strobe)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4512469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Quiescent Line Monitor: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Continuously monitors the high idle bus for a transition to logic 0.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5341144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Single-Cycle Trigger: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Fires a clean, synchronous 1-cycle alert strobe on the falling edge to awaken the receiver FSM.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6169819"/>
            <a:ext cx="720804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Handshake Protection: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Employs an internal lock-out latch that ignores subsequent falling edges until the current frame completes and the FSM issues a clear acknowledgment.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5506" y="3979069"/>
            <a:ext cx="756844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start_checker (Glitch Rejection)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5506" y="4512469"/>
            <a:ext cx="720804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Anti-Noise Validator: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Verifies that the detected drop is an authentic start bit and not an inductive line spike or transient glitch.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5506" y="5341144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Windowed Inspection: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Confirms the serial line remains firmly held at logic 0 throughout the allocated start-bit interval.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5506" y="6184106"/>
            <a:ext cx="7208044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Abort Safeguard: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Directs the FSM back to IDLE without corrupting buffers if the line bounces back to 1 prematurely.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RX Detection &amp; Glitch Filtering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964334"/>
            <a:ext cx="5324551" cy="3487045"/>
            <a:chOff x="0" y="0"/>
            <a:chExt cx="7099402" cy="464939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99427" cy="4649343"/>
            </a:xfrm>
            <a:custGeom>
              <a:avLst/>
              <a:gdLst/>
              <a:ahLst/>
              <a:cxnLst/>
              <a:rect r="r" b="b" t="t" l="l"/>
              <a:pathLst>
                <a:path h="4649343" w="7099427">
                  <a:moveTo>
                    <a:pt x="0" y="0"/>
                  </a:moveTo>
                  <a:lnTo>
                    <a:pt x="7099427" y="0"/>
                  </a:lnTo>
                  <a:lnTo>
                    <a:pt x="7099427" y="4649343"/>
                  </a:lnTo>
                  <a:lnTo>
                    <a:pt x="0" y="464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" r="0" b="-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81839" y="3964334"/>
            <a:ext cx="5324551" cy="3487045"/>
            <a:chOff x="0" y="0"/>
            <a:chExt cx="7099402" cy="46493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99427" cy="4649343"/>
            </a:xfrm>
            <a:custGeom>
              <a:avLst/>
              <a:gdLst/>
              <a:ahLst/>
              <a:cxnLst/>
              <a:rect r="r" b="b" t="t" l="l"/>
              <a:pathLst>
                <a:path h="4649343" w="7099427">
                  <a:moveTo>
                    <a:pt x="0" y="0"/>
                  </a:moveTo>
                  <a:lnTo>
                    <a:pt x="7099427" y="0"/>
                  </a:lnTo>
                  <a:lnTo>
                    <a:pt x="7099427" y="4649343"/>
                  </a:lnTo>
                  <a:lnTo>
                    <a:pt x="0" y="464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2140" y="3964334"/>
            <a:ext cx="5324551" cy="3487045"/>
            <a:chOff x="0" y="0"/>
            <a:chExt cx="7099402" cy="46493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99427" cy="4649343"/>
            </a:xfrm>
            <a:custGeom>
              <a:avLst/>
              <a:gdLst/>
              <a:ahLst/>
              <a:cxnLst/>
              <a:rect r="r" b="b" t="t" l="l"/>
              <a:pathLst>
                <a:path h="4649343" w="7099427">
                  <a:moveTo>
                    <a:pt x="0" y="0"/>
                  </a:moveTo>
                  <a:lnTo>
                    <a:pt x="7099427" y="0"/>
                  </a:lnTo>
                  <a:lnTo>
                    <a:pt x="7099427" y="4649343"/>
                  </a:lnTo>
                  <a:lnTo>
                    <a:pt x="0" y="464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" r="0" b="-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8725" y="4321521"/>
            <a:ext cx="628650" cy="628650"/>
            <a:chOff x="0" y="0"/>
            <a:chExt cx="838200" cy="838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6" r="0" b="-113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8725" y="5159721"/>
            <a:ext cx="2685336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deserializer (SIPO)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725" y="5697884"/>
            <a:ext cx="4610176" cy="123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3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Synchronous Serial-In Parallel-Out shift register. Samples incoming serial pulses clock-by-clock, shifting rightwards to assemble the full 8-bit word into a stable register.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39026" y="4321521"/>
            <a:ext cx="628650" cy="628650"/>
            <a:chOff x="0" y="0"/>
            <a:chExt cx="838200" cy="838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6" r="0" b="-113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39026" y="5159721"/>
            <a:ext cx="3750469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p_checker (Parity Verify)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39026" y="5697884"/>
            <a:ext cx="4610176" cy="125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3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Reconstructs expected parity over the deserialized byte and matches it against the received serial parity bit. Directly raises active-high o_parity_err = 1 upon discrepancy.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49327" y="4321521"/>
            <a:ext cx="628650" cy="628650"/>
            <a:chOff x="0" y="0"/>
            <a:chExt cx="838200" cy="838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6" r="0" b="-1136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49327" y="5159721"/>
            <a:ext cx="3615452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stop_checker (Framing)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9327" y="5697884"/>
            <a:ext cx="4610176" cy="125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3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Inspects the bus during the designated stop-bit cycle. If the line is detected at logic 0 instead of 1, asserts o_framing_err = 1 to capture clock drift and framing anomalies.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64456" y="4478684"/>
            <a:ext cx="357188" cy="314325"/>
            <a:chOff x="0" y="0"/>
            <a:chExt cx="476250" cy="4191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76250" cy="419100"/>
            </a:xfrm>
            <a:custGeom>
              <a:avLst/>
              <a:gdLst/>
              <a:ahLst/>
              <a:cxnLst/>
              <a:rect r="r" b="b" t="t" l="l"/>
              <a:pathLst>
                <a:path h="4191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3" r="0" b="-26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96189" y="4478684"/>
            <a:ext cx="314325" cy="314325"/>
            <a:chOff x="0" y="0"/>
            <a:chExt cx="419100" cy="419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272" r="0" b="-227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06490" y="4478684"/>
            <a:ext cx="314325" cy="314325"/>
            <a:chOff x="0" y="0"/>
            <a:chExt cx="419100" cy="4191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272" r="0" b="-2272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RX Deserializer, Parity &amp; Stop Checkers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8288" y="3207544"/>
            <a:ext cx="7188175" cy="5000625"/>
            <a:chOff x="0" y="0"/>
            <a:chExt cx="9584233" cy="666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584182" cy="6667500"/>
            </a:xfrm>
            <a:custGeom>
              <a:avLst/>
              <a:gdLst/>
              <a:ahLst/>
              <a:cxnLst/>
              <a:rect r="r" b="b" t="t" l="l"/>
              <a:pathLst>
                <a:path h="6667500" w="9584182">
                  <a:moveTo>
                    <a:pt x="0" y="0"/>
                  </a:moveTo>
                  <a:lnTo>
                    <a:pt x="9584182" y="0"/>
                  </a:lnTo>
                  <a:lnTo>
                    <a:pt x="9584182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" r="0" b="-5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3012" y="3855244"/>
            <a:ext cx="84137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Orchestrator Role: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Master supervisory FSM integrating and synchronizing all 5 companion RX submodules in a deterministic sequence.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3012" y="4741069"/>
            <a:ext cx="84137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State Trajectory: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IDLE → START_CHECK → DATA_ACQUIRE (8 clock cycles) → PARITY_CHECK → STOP_CHECK.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012" y="5626894"/>
            <a:ext cx="8413775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Handshake Clear: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Releases neg_edgedetector handshake lock after line closure, arming it for the subsequent packet.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3012" y="6527006"/>
            <a:ext cx="8413775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Lato Bold"/>
                <a:ea typeface="Lato Bold"/>
                <a:cs typeface="Lato Bold"/>
                <a:sym typeface="Lato Bold"/>
              </a:rPr>
              <a:t>Valid Data Strobe:</a:t>
            </a:r>
            <a:r>
              <a:rPr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Emits a single-clock pulse on o_rx_valid along with valid 8-bit data when all parity and framing checks pass without error.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42575" y="3221831"/>
            <a:ext cx="7159600" cy="4972050"/>
            <a:chOff x="0" y="0"/>
            <a:chExt cx="9546133" cy="6629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546082" cy="6629400"/>
            </a:xfrm>
            <a:custGeom>
              <a:avLst/>
              <a:gdLst/>
              <a:ahLst/>
              <a:cxnLst/>
              <a:rect r="r" b="b" t="t" l="l"/>
              <a:pathLst>
                <a:path h="6629400" w="9546082">
                  <a:moveTo>
                    <a:pt x="0" y="0"/>
                  </a:moveTo>
                  <a:lnTo>
                    <a:pt x="9546082" y="0"/>
                  </a:lnTo>
                  <a:lnTo>
                    <a:pt x="9546082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1" r="0" b="-14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Receiver Controller: fsm_rx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71538" y="1807368"/>
          <a:ext cx="16516350" cy="7753350"/>
        </p:xfrm>
        <a:graphic>
          <a:graphicData uri="http://schemas.openxmlformats.org/drawingml/2006/table">
            <a:tbl>
              <a:tblPr/>
              <a:tblGrid>
                <a:gridCol w="1947543"/>
                <a:gridCol w="3525147"/>
                <a:gridCol w="2979815"/>
                <a:gridCol w="8063845"/>
              </a:tblGrid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Domain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Submodule Name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Logic Type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Function / Responsibility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38BDF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TX (4)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p_calc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Combinational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Calculates dynamic XOR parity (even/odd)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serializer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Sequential (PISO)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Latches 8-bit parallel byte &amp; shifts LSB-first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fsm_tx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Sequential FSM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Controls state lifecycle &amp; asserts o_tx_busy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mux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Combinational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4-to-1 selector steering Start/Data/Parity/Stop to o_tx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818CF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RX (6)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neg_edgedetector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Sequential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Detects 1→0 edge with latching handshake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start_checker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Combinational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Rejects transient noise glitches during start bit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deserializer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Sequential (SIPO)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Assembles 8 incoming serial bits into parallel byte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p_checker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Combinational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Compares received parity against calculated; flags error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stop_checker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Combinational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Validates stop bit is logic 1; flags framing error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8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fsm_rx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Sequential FSM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Supervises RX path, validates checks &amp; asserts o_rx_valid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8580" marR="68580" marT="68580" marB="6858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871538" y="2514600"/>
            <a:ext cx="1950910" cy="14288"/>
            <a:chOff x="0" y="0"/>
            <a:chExt cx="2601214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1214" cy="19050"/>
            </a:xfrm>
            <a:custGeom>
              <a:avLst/>
              <a:gdLst/>
              <a:ahLst/>
              <a:cxnLst/>
              <a:rect r="r" b="b" t="t" l="l"/>
              <a:pathLst>
                <a:path h="19050" w="2601214">
                  <a:moveTo>
                    <a:pt x="0" y="0"/>
                  </a:moveTo>
                  <a:lnTo>
                    <a:pt x="2601214" y="0"/>
                  </a:lnTo>
                  <a:lnTo>
                    <a:pt x="26012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822448" y="2514600"/>
            <a:ext cx="3531241" cy="14288"/>
            <a:chOff x="0" y="0"/>
            <a:chExt cx="4708322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53699" y="2514600"/>
            <a:ext cx="2984973" cy="14288"/>
            <a:chOff x="0" y="0"/>
            <a:chExt cx="3979964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38662" y="2514600"/>
            <a:ext cx="8077791" cy="14288"/>
            <a:chOff x="0" y="0"/>
            <a:chExt cx="10770387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1538" y="5343525"/>
            <a:ext cx="1950910" cy="14288"/>
            <a:chOff x="0" y="0"/>
            <a:chExt cx="2601214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01214" cy="19050"/>
            </a:xfrm>
            <a:custGeom>
              <a:avLst/>
              <a:gdLst/>
              <a:ahLst/>
              <a:cxnLst/>
              <a:rect r="r" b="b" t="t" l="l"/>
              <a:pathLst>
                <a:path h="19050" w="2601214">
                  <a:moveTo>
                    <a:pt x="0" y="0"/>
                  </a:moveTo>
                  <a:lnTo>
                    <a:pt x="2601214" y="0"/>
                  </a:lnTo>
                  <a:lnTo>
                    <a:pt x="26012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22448" y="3221831"/>
            <a:ext cx="3531241" cy="14288"/>
            <a:chOff x="0" y="0"/>
            <a:chExt cx="4708322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53699" y="3221831"/>
            <a:ext cx="2984973" cy="14288"/>
            <a:chOff x="0" y="0"/>
            <a:chExt cx="3979964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8662" y="3221831"/>
            <a:ext cx="8077791" cy="14288"/>
            <a:chOff x="0" y="0"/>
            <a:chExt cx="10770387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822448" y="3929062"/>
            <a:ext cx="3531241" cy="14288"/>
            <a:chOff x="0" y="0"/>
            <a:chExt cx="470832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53699" y="3929062"/>
            <a:ext cx="2984973" cy="14288"/>
            <a:chOff x="0" y="0"/>
            <a:chExt cx="3979964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38662" y="3929062"/>
            <a:ext cx="8077791" cy="14288"/>
            <a:chOff x="0" y="0"/>
            <a:chExt cx="10770387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822448" y="4636294"/>
            <a:ext cx="3531241" cy="14288"/>
            <a:chOff x="0" y="0"/>
            <a:chExt cx="4708322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53699" y="4636294"/>
            <a:ext cx="2984973" cy="14288"/>
            <a:chOff x="0" y="0"/>
            <a:chExt cx="3979964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38662" y="4636294"/>
            <a:ext cx="8077791" cy="14288"/>
            <a:chOff x="0" y="0"/>
            <a:chExt cx="10770387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822448" y="5343525"/>
            <a:ext cx="3531241" cy="14288"/>
            <a:chOff x="0" y="0"/>
            <a:chExt cx="4708322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353699" y="5343525"/>
            <a:ext cx="2984973" cy="14288"/>
            <a:chOff x="0" y="0"/>
            <a:chExt cx="3979964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38662" y="5343525"/>
            <a:ext cx="8077791" cy="14288"/>
            <a:chOff x="0" y="0"/>
            <a:chExt cx="10770387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71538" y="9586912"/>
            <a:ext cx="1950910" cy="14288"/>
            <a:chOff x="0" y="0"/>
            <a:chExt cx="2601214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01214" cy="19050"/>
            </a:xfrm>
            <a:custGeom>
              <a:avLst/>
              <a:gdLst/>
              <a:ahLst/>
              <a:cxnLst/>
              <a:rect r="r" b="b" t="t" l="l"/>
              <a:pathLst>
                <a:path h="19050" w="2601214">
                  <a:moveTo>
                    <a:pt x="0" y="0"/>
                  </a:moveTo>
                  <a:lnTo>
                    <a:pt x="2601214" y="0"/>
                  </a:lnTo>
                  <a:lnTo>
                    <a:pt x="26012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822448" y="6050756"/>
            <a:ext cx="3531241" cy="14288"/>
            <a:chOff x="0" y="0"/>
            <a:chExt cx="4708322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53699" y="6050756"/>
            <a:ext cx="2984973" cy="14288"/>
            <a:chOff x="0" y="0"/>
            <a:chExt cx="3979964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38662" y="6050756"/>
            <a:ext cx="8077791" cy="14288"/>
            <a:chOff x="0" y="0"/>
            <a:chExt cx="10770387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822448" y="6757988"/>
            <a:ext cx="3531241" cy="14288"/>
            <a:chOff x="0" y="0"/>
            <a:chExt cx="4708322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353699" y="6757988"/>
            <a:ext cx="2984973" cy="14288"/>
            <a:chOff x="0" y="0"/>
            <a:chExt cx="3979964" cy="19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38662" y="6757988"/>
            <a:ext cx="8077791" cy="14288"/>
            <a:chOff x="0" y="0"/>
            <a:chExt cx="10770387" cy="19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822448" y="7465219"/>
            <a:ext cx="3531241" cy="14288"/>
            <a:chOff x="0" y="0"/>
            <a:chExt cx="4708322" cy="19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353699" y="7465219"/>
            <a:ext cx="2984973" cy="14288"/>
            <a:chOff x="0" y="0"/>
            <a:chExt cx="3979964" cy="190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38662" y="7465219"/>
            <a:ext cx="8077791" cy="14288"/>
            <a:chOff x="0" y="0"/>
            <a:chExt cx="10770387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822448" y="8172450"/>
            <a:ext cx="3531241" cy="14288"/>
            <a:chOff x="0" y="0"/>
            <a:chExt cx="4708322" cy="190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353699" y="8172450"/>
            <a:ext cx="2984973" cy="14288"/>
            <a:chOff x="0" y="0"/>
            <a:chExt cx="3979964" cy="19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338662" y="8172450"/>
            <a:ext cx="8077791" cy="14288"/>
            <a:chOff x="0" y="0"/>
            <a:chExt cx="10770387" cy="190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822448" y="8879681"/>
            <a:ext cx="3531241" cy="14288"/>
            <a:chOff x="0" y="0"/>
            <a:chExt cx="4708322" cy="190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353699" y="8879681"/>
            <a:ext cx="2984973" cy="14288"/>
            <a:chOff x="0" y="0"/>
            <a:chExt cx="3979964" cy="190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338662" y="8879681"/>
            <a:ext cx="8077791" cy="14288"/>
            <a:chOff x="0" y="0"/>
            <a:chExt cx="10770387" cy="190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822448" y="9586912"/>
            <a:ext cx="3531241" cy="14288"/>
            <a:chOff x="0" y="0"/>
            <a:chExt cx="4708322" cy="19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08271" cy="19050"/>
            </a:xfrm>
            <a:custGeom>
              <a:avLst/>
              <a:gdLst/>
              <a:ahLst/>
              <a:cxnLst/>
              <a:rect r="r" b="b" t="t" l="l"/>
              <a:pathLst>
                <a:path h="19050" w="4708271">
                  <a:moveTo>
                    <a:pt x="0" y="0"/>
                  </a:moveTo>
                  <a:lnTo>
                    <a:pt x="4708271" y="0"/>
                  </a:lnTo>
                  <a:lnTo>
                    <a:pt x="47082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353699" y="9586912"/>
            <a:ext cx="2984973" cy="14288"/>
            <a:chOff x="0" y="0"/>
            <a:chExt cx="3979964" cy="190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79926" cy="19050"/>
            </a:xfrm>
            <a:custGeom>
              <a:avLst/>
              <a:gdLst/>
              <a:ahLst/>
              <a:cxnLst/>
              <a:rect r="r" b="b" t="t" l="l"/>
              <a:pathLst>
                <a:path h="19050" w="3979926">
                  <a:moveTo>
                    <a:pt x="0" y="0"/>
                  </a:moveTo>
                  <a:lnTo>
                    <a:pt x="3979926" y="0"/>
                  </a:lnTo>
                  <a:lnTo>
                    <a:pt x="39799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338662" y="9586912"/>
            <a:ext cx="8077791" cy="14288"/>
            <a:chOff x="0" y="0"/>
            <a:chExt cx="10770387" cy="190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770362" cy="19050"/>
            </a:xfrm>
            <a:custGeom>
              <a:avLst/>
              <a:gdLst/>
              <a:ahLst/>
              <a:cxnLst/>
              <a:rect r="r" b="b" t="t" l="l"/>
              <a:pathLst>
                <a:path h="19050" w="10770362">
                  <a:moveTo>
                    <a:pt x="0" y="0"/>
                  </a:moveTo>
                  <a:lnTo>
                    <a:pt x="10770362" y="0"/>
                  </a:lnTo>
                  <a:lnTo>
                    <a:pt x="107703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871538" y="650081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Architectural Submodule Matrix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8731" y="3814762"/>
            <a:ext cx="15730538" cy="785812"/>
            <a:chOff x="0" y="0"/>
            <a:chExt cx="20974050" cy="1047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7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974050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20779994" y="0"/>
                  </a:lnTo>
                  <a:cubicBezTo>
                    <a:pt x="20887182" y="0"/>
                    <a:pt x="20974050" y="86868"/>
                    <a:pt x="20974050" y="194056"/>
                  </a:cubicBezTo>
                  <a:lnTo>
                    <a:pt x="20974050" y="853694"/>
                  </a:lnTo>
                  <a:cubicBezTo>
                    <a:pt x="20974050" y="960882"/>
                    <a:pt x="20887182" y="1047750"/>
                    <a:pt x="20779994" y="1047750"/>
                  </a:cubicBezTo>
                  <a:lnTo>
                    <a:pt x="194056" y="1047750"/>
                  </a:lnTo>
                  <a:cubicBezTo>
                    <a:pt x="86868" y="1047750"/>
                    <a:pt x="0" y="960882"/>
                    <a:pt x="0" y="85369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071688" y="3955256"/>
            <a:ext cx="1467326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8FAFC"/>
                </a:solidFill>
                <a:latin typeface="Lato Bold"/>
                <a:ea typeface="Lato Bold"/>
                <a:cs typeface="Lato Bold"/>
                <a:sym typeface="Lato Bold"/>
              </a:rPr>
              <a:t>Zero Internal Probing:</a:t>
            </a: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Testbenches interact strictly with top-level port interfaces, mirroring physical silicon verification standards.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8731" y="4757738"/>
            <a:ext cx="15730538" cy="785812"/>
            <a:chOff x="0" y="0"/>
            <a:chExt cx="20974050" cy="1047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7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974050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20779994" y="0"/>
                  </a:lnTo>
                  <a:cubicBezTo>
                    <a:pt x="20887182" y="0"/>
                    <a:pt x="20974050" y="86868"/>
                    <a:pt x="20974050" y="194056"/>
                  </a:cubicBezTo>
                  <a:lnTo>
                    <a:pt x="20974050" y="853694"/>
                  </a:lnTo>
                  <a:cubicBezTo>
                    <a:pt x="20974050" y="960882"/>
                    <a:pt x="20887182" y="1047750"/>
                    <a:pt x="20779994" y="1047750"/>
                  </a:cubicBezTo>
                  <a:lnTo>
                    <a:pt x="194056" y="1047750"/>
                  </a:lnTo>
                  <a:cubicBezTo>
                    <a:pt x="86868" y="1047750"/>
                    <a:pt x="0" y="960882"/>
                    <a:pt x="0" y="85369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071688" y="4898231"/>
            <a:ext cx="1467326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8FAFC"/>
                </a:solidFill>
                <a:latin typeface="Lato Bold"/>
                <a:ea typeface="Lato Bold"/>
                <a:cs typeface="Lato Bold"/>
                <a:sym typeface="Lato Bold"/>
              </a:rPr>
              <a:t>Deterministic Timing:</a:t>
            </a: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Precision 100 MHz clock generation with calibrated setup and hold margins to prevent delta-cycle race hazards.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78731" y="5700712"/>
            <a:ext cx="15730538" cy="785812"/>
            <a:chOff x="0" y="0"/>
            <a:chExt cx="20974050" cy="104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974050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20779994" y="0"/>
                  </a:lnTo>
                  <a:cubicBezTo>
                    <a:pt x="20887182" y="0"/>
                    <a:pt x="20974050" y="86868"/>
                    <a:pt x="20974050" y="194056"/>
                  </a:cubicBezTo>
                  <a:lnTo>
                    <a:pt x="20974050" y="853694"/>
                  </a:lnTo>
                  <a:cubicBezTo>
                    <a:pt x="20974050" y="960882"/>
                    <a:pt x="20887182" y="1047750"/>
                    <a:pt x="20779994" y="1047750"/>
                  </a:cubicBezTo>
                  <a:lnTo>
                    <a:pt x="194056" y="1047750"/>
                  </a:lnTo>
                  <a:cubicBezTo>
                    <a:pt x="86868" y="1047750"/>
                    <a:pt x="0" y="960882"/>
                    <a:pt x="0" y="85369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071688" y="5841206"/>
            <a:ext cx="1467326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8FAFC"/>
                </a:solidFill>
                <a:latin typeface="Lato Bold"/>
                <a:ea typeface="Lato Bold"/>
                <a:cs typeface="Lato Bold"/>
                <a:sym typeface="Lato Bold"/>
              </a:rPr>
              <a:t>Fault Injection Testing:</a:t>
            </a: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Directed test cases with inverted parity bits and truncated stop lines to validate immediate error flag triggers.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8731" y="6643688"/>
            <a:ext cx="15730538" cy="785812"/>
            <a:chOff x="0" y="0"/>
            <a:chExt cx="20974050" cy="1047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97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974050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20779994" y="0"/>
                  </a:lnTo>
                  <a:cubicBezTo>
                    <a:pt x="20887182" y="0"/>
                    <a:pt x="20974050" y="86868"/>
                    <a:pt x="20974050" y="194056"/>
                  </a:cubicBezTo>
                  <a:lnTo>
                    <a:pt x="20974050" y="853694"/>
                  </a:lnTo>
                  <a:cubicBezTo>
                    <a:pt x="20974050" y="960882"/>
                    <a:pt x="20887182" y="1047750"/>
                    <a:pt x="20779994" y="1047750"/>
                  </a:cubicBezTo>
                  <a:lnTo>
                    <a:pt x="194056" y="1047750"/>
                  </a:lnTo>
                  <a:cubicBezTo>
                    <a:pt x="86868" y="1047750"/>
                    <a:pt x="0" y="960882"/>
                    <a:pt x="0" y="85369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071688" y="6784181"/>
            <a:ext cx="1467326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8FAFC"/>
                </a:solidFill>
                <a:latin typeface="Lato Bold"/>
                <a:ea typeface="Lato Bold"/>
                <a:cs typeface="Lato Bold"/>
                <a:sym typeface="Lato Bold"/>
              </a:rPr>
              <a:t>Asynchronous Reset Interruption:</a:t>
            </a: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Triggering reset mid-transaction to verify instantaneous recovery without uninitialized states ('bx).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85875" y="4579144"/>
            <a:ext cx="15716250" cy="14288"/>
            <a:chOff x="0" y="0"/>
            <a:chExt cx="209550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5875" y="5522119"/>
            <a:ext cx="15716250" cy="14288"/>
            <a:chOff x="0" y="0"/>
            <a:chExt cx="209550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5875" y="6465094"/>
            <a:ext cx="15716250" cy="14288"/>
            <a:chOff x="0" y="0"/>
            <a:chExt cx="2095500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5875" y="7408069"/>
            <a:ext cx="15716250" cy="14288"/>
            <a:chOff x="0" y="0"/>
            <a:chExt cx="2095500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57338" y="4071938"/>
            <a:ext cx="257175" cy="271462"/>
            <a:chOff x="0" y="0"/>
            <a:chExt cx="342900" cy="3619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57338" y="5014912"/>
            <a:ext cx="228600" cy="271462"/>
            <a:chOff x="0" y="0"/>
            <a:chExt cx="304800" cy="3619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57338" y="5957888"/>
            <a:ext cx="328612" cy="271462"/>
            <a:chOff x="0" y="0"/>
            <a:chExt cx="438150" cy="3619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7338" y="6900862"/>
            <a:ext cx="257175" cy="271462"/>
            <a:chOff x="0" y="0"/>
            <a:chExt cx="34290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Strict Black-Box Verification Strategy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1857375"/>
            <a:ext cx="16544925" cy="7700962"/>
            <a:chOff x="0" y="0"/>
            <a:chExt cx="22059900" cy="102679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59900" cy="10267950"/>
            </a:xfrm>
            <a:custGeom>
              <a:avLst/>
              <a:gdLst/>
              <a:ahLst/>
              <a:cxnLst/>
              <a:rect r="r" b="b" t="t" l="l"/>
              <a:pathLst>
                <a:path h="1026795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10267950"/>
                  </a:lnTo>
                  <a:lnTo>
                    <a:pt x="0" y="10267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8" r="0" b="-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64681" y="7184231"/>
            <a:ext cx="1195863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i="true">
                <a:solidFill>
                  <a:srgbClr val="94A3B8"/>
                </a:solidFill>
                <a:latin typeface="Lato Italics"/>
                <a:ea typeface="Lato Italics"/>
                <a:cs typeface="Lato Italics"/>
                <a:sym typeface="Lato Italics"/>
              </a:rPr>
              <a:t>Simulated in ModelSim / QuestaSim with zero syntax errors, zero timing warnings, and cycle-accurate waveform alignment.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Verification Results &amp; Pass Rates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5679281"/>
            <a:ext cx="16544925" cy="57150"/>
            <a:chOff x="0" y="0"/>
            <a:chExt cx="22059900" cy="76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59900" cy="76200"/>
            </a:xfrm>
            <a:custGeom>
              <a:avLst/>
              <a:gdLst/>
              <a:ahLst/>
              <a:cxnLst/>
              <a:rect r="r" b="b" t="t" l="l"/>
              <a:pathLst>
                <a:path h="762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00" r="0" b="-123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6022181"/>
            <a:ext cx="3805161" cy="1411338"/>
            <a:chOff x="0" y="0"/>
            <a:chExt cx="5073548" cy="18817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073523" cy="1881759"/>
            </a:xfrm>
            <a:custGeom>
              <a:avLst/>
              <a:gdLst/>
              <a:ahLst/>
              <a:cxnLst/>
              <a:rect r="r" b="b" t="t" l="l"/>
              <a:pathLst>
                <a:path h="1881759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1881759"/>
                  </a:lnTo>
                  <a:lnTo>
                    <a:pt x="0" y="1881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9" r="0" b="-49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18049" y="3982193"/>
            <a:ext cx="3805161" cy="1411338"/>
            <a:chOff x="0" y="0"/>
            <a:chExt cx="5073548" cy="188178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073523" cy="1881759"/>
            </a:xfrm>
            <a:custGeom>
              <a:avLst/>
              <a:gdLst/>
              <a:ahLst/>
              <a:cxnLst/>
              <a:rect r="r" b="b" t="t" l="l"/>
              <a:pathLst>
                <a:path h="1881759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1881759"/>
                  </a:lnTo>
                  <a:lnTo>
                    <a:pt x="0" y="1881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1" r="0" b="-30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64561" y="6022181"/>
            <a:ext cx="3805161" cy="1411338"/>
            <a:chOff x="0" y="0"/>
            <a:chExt cx="5073548" cy="188178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073523" cy="1881759"/>
            </a:xfrm>
            <a:custGeom>
              <a:avLst/>
              <a:gdLst/>
              <a:ahLst/>
              <a:cxnLst/>
              <a:rect r="r" b="b" t="t" l="l"/>
              <a:pathLst>
                <a:path h="1881759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1881759"/>
                  </a:lnTo>
                  <a:lnTo>
                    <a:pt x="0" y="1881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1" r="0" b="-30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11073" y="3982193"/>
            <a:ext cx="3805161" cy="1411338"/>
            <a:chOff x="0" y="0"/>
            <a:chExt cx="5073548" cy="18817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073523" cy="1881759"/>
            </a:xfrm>
            <a:custGeom>
              <a:avLst/>
              <a:gdLst/>
              <a:ahLst/>
              <a:cxnLst/>
              <a:rect r="r" b="b" t="t" l="l"/>
              <a:pathLst>
                <a:path h="1881759" w="5073523">
                  <a:moveTo>
                    <a:pt x="0" y="0"/>
                  </a:moveTo>
                  <a:lnTo>
                    <a:pt x="5073523" y="0"/>
                  </a:lnTo>
                  <a:lnTo>
                    <a:pt x="5073523" y="1881759"/>
                  </a:lnTo>
                  <a:lnTo>
                    <a:pt x="0" y="1881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9" r="0" b="-49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01439" y="6226969"/>
            <a:ext cx="354536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1. Microarchitecture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50" y="6641306"/>
            <a:ext cx="3376536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Modular specification of 4 TX and 6 RX blocks in SystemVerilog.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47951" y="4186980"/>
            <a:ext cx="354536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2. Unit Verification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32362" y="4601318"/>
            <a:ext cx="3376536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100% pass rate achieved across all standalone submodules.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4463" y="6226969"/>
            <a:ext cx="354536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3. FSM Integration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78873" y="6641306"/>
            <a:ext cx="3376536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Submodule integration under fsm_tx and fsm_rx supervisors.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40975" y="4186980"/>
            <a:ext cx="354536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2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4. Full Duplex Top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25385" y="4601318"/>
            <a:ext cx="3376536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Loopback integration and automated Grading Harness compliance.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1538" y="700087"/>
            <a:ext cx="17372171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Project Milestones &amp; Roadmap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16956" y="5550694"/>
            <a:ext cx="314325" cy="314325"/>
            <a:chOff x="0" y="0"/>
            <a:chExt cx="4191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63467" y="5550694"/>
            <a:ext cx="314325" cy="314325"/>
            <a:chOff x="0" y="0"/>
            <a:chExt cx="4191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109979" y="5550694"/>
            <a:ext cx="314325" cy="314325"/>
            <a:chOff x="0" y="0"/>
            <a:chExt cx="4191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356491" y="5550694"/>
            <a:ext cx="314325" cy="314325"/>
            <a:chOff x="0" y="0"/>
            <a:chExt cx="419100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38BDF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DAHUTZ7qbkE</dc:identifier>
  <dcterms:modified xsi:type="dcterms:W3CDTF">2011-08-01T06:04:30Z</dcterms:modified>
  <cp:revision>1</cp:revision>
  <dc:title>Full-Duplex UART Architecture and Verification.pptx</dc:title>
</cp:coreProperties>
</file>